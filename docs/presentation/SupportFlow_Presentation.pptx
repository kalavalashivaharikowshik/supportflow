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53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7fMqilBsZb51OyzkgIVGdRBUDd0SNtTV/view?usp=sharin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Lenovo\OneDrive\Pictures\Screenshots%201\red-green-fixed.pn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Lenovo\OneDrive\Pictures\Screenshots%201\github-actions-green.png.p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41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ESCALATION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SupportFlow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Support Ticket Escalation System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368296" cy="384048"/>
          </a:xfrm>
          <a:prstGeom prst="roundRect">
            <a:avLst>
              <a:gd name="adj" fmla="val 50000"/>
            </a:avLst>
          </a:prstGeom>
          <a:solidFill>
            <a:srgbClr val="141A44"/>
          </a:solidFill>
          <a:ln w="952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2368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Application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2424" y="4160520"/>
            <a:ext cx="1888236" cy="384048"/>
          </a:xfrm>
          <a:prstGeom prst="roundRect">
            <a:avLst>
              <a:gd name="adj" fmla="val 50000"/>
            </a:avLst>
          </a:prstGeom>
          <a:solidFill>
            <a:srgbClr val="141A44"/>
          </a:solidFill>
          <a:ln w="952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92424" y="4160520"/>
            <a:ext cx="18882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1828" y="4160520"/>
            <a:ext cx="2752344" cy="384048"/>
          </a:xfrm>
          <a:prstGeom prst="roundRect">
            <a:avLst>
              <a:gd name="adj" fmla="val 50000"/>
            </a:avLst>
          </a:prstGeom>
          <a:solidFill>
            <a:srgbClr val="141A44"/>
          </a:solidFill>
          <a:ln w="952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1828" y="4160520"/>
            <a:ext cx="2752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Build-Test-Fix Workflow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Kalavala Shiva Hari Kowshik  •  Internship Hiring Assessment — Tactive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support tickets can silently remain unattended when organizations rely on manual monitoring rather than automated SLA enforcement.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83464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breaches can go unnoticed.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2606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37960" y="2880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3796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283464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labels may have no enforced consequence.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48056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must manually monitor overdue tickets.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63640" y="42519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53796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3796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23760" y="448056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and escalation decisions lack a reliable audit trail.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8521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2960" y="58521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 ticketing system where SLA deadlines are automatically monitored, breached tickets are escalated, and every important action is auditable.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SupportFlow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SupportFlow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2062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Creates Ticket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929384"/>
            <a:ext cx="0" cy="128016"/>
          </a:xfrm>
          <a:prstGeom prst="line">
            <a:avLst/>
          </a:prstGeom>
          <a:noFill/>
          <a:ln w="19050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42062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→ SLA Deadline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2478024"/>
            <a:ext cx="0" cy="128016"/>
          </a:xfrm>
          <a:prstGeom prst="line">
            <a:avLst/>
          </a:prstGeom>
          <a:noFill/>
          <a:ln w="19050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42062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Assigns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3026664"/>
            <a:ext cx="0" cy="128016"/>
          </a:xfrm>
          <a:prstGeom prst="line">
            <a:avLst/>
          </a:prstGeom>
          <a:noFill/>
          <a:ln w="19050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42062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315468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Works Ticket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3575304"/>
            <a:ext cx="0" cy="128016"/>
          </a:xfrm>
          <a:prstGeom prst="line">
            <a:avLst/>
          </a:prstGeom>
          <a:noFill/>
          <a:ln w="19050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42062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Monitoring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flipH="1">
            <a:off x="1600200" y="4233672"/>
            <a:ext cx="1051560" cy="237744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600200" y="4507992"/>
            <a:ext cx="0" cy="18288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0" y="4233672"/>
            <a:ext cx="1051560" cy="237744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703320" y="4507992"/>
            <a:ext cx="0" cy="18288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85800" y="4562856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E7F9F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5800" y="4562856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 → Resolve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80360" y="4562856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DE9E9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880360" y="4562856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Breached → Escalate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13048" y="4983480"/>
            <a:ext cx="0" cy="237744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880360" y="5248656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880360" y="524865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Auto-Reassign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13048" y="5632704"/>
            <a:ext cx="0" cy="21945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423160" y="587959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7F9F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423160" y="58795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20640" y="1600200"/>
            <a:ext cx="649224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40680" y="18288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40680" y="2450592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40680" y="2450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870448" y="2423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/ Agent / Admin workflows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40680" y="298094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440680" y="2980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870448" y="295351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enforcement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440680" y="351129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440680" y="35112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870448" y="3483864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escalation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440680" y="40416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440680" y="4041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870448" y="401421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Agent reassignment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440680" y="457200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440680" y="4572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870448" y="454456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440680" y="5102352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440680" y="5102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870448" y="50749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notifications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440680" y="563270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440680" y="5632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870448" y="560527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configuration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SupportFlow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801368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 •  Tailwind CSS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0" y="2560320"/>
            <a:ext cx="0" cy="365760"/>
          </a:xfrm>
          <a:prstGeom prst="line">
            <a:avLst/>
          </a:prstGeom>
          <a:noFill/>
          <a:ln w="19050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236246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9494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3081528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52044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Tickets · SLA / Escalation · Notifications · Audit / Reports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4389120"/>
            <a:ext cx="0" cy="365760"/>
          </a:xfrm>
          <a:prstGeom prst="line">
            <a:avLst/>
          </a:prstGeom>
          <a:noFill/>
          <a:ln w="19050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4910328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 •  Alembic  •  SQLite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52578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1691640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38160" y="185623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595360" y="181051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38160" y="219456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pytest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Playwright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18120" y="3364992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138160" y="3529584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595360" y="3483864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38160" y="386791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Ruff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ESLint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18120" y="5038344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138160" y="5202936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595360" y="5157216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38160" y="5541264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GitHub Actions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SupportFlow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Workflows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016252" y="1719072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016252" y="17190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94436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tickets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31012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SLA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67588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responses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04164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/ reopen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40740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3400" y="146304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811012" y="1719072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811012" y="17190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343400" y="24231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294436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queue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331012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work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63440" y="367588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responses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63440" y="404164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notes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63440" y="440740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tickets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63440" y="477316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queue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38160" y="146304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605772" y="1719072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605772" y="17190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138160" y="24231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458200" y="294436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/ reassign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58200" y="331012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58200" y="367588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SLA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58200" y="404164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system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58200" y="440740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/ export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58200" y="477316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workload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6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68680" y="59893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RBAC remains the security boundary; frontend role routing provides an additional UX-level restriction.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SupportFlow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Enforcement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80360" y="2112264"/>
            <a:ext cx="0" cy="146304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258568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SLA Configuration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80360" y="2770632"/>
            <a:ext cx="0" cy="146304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2916936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Deadline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880360" y="3429000"/>
            <a:ext cx="0" cy="146304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3575304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Check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880360" y="4087368"/>
            <a:ext cx="0" cy="146304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4233672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4233672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current_time &gt;= sla_deadline 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691640" y="4937760"/>
            <a:ext cx="0" cy="274320"/>
          </a:xfrm>
          <a:prstGeom prst="line">
            <a:avLst/>
          </a:prstGeom>
          <a:noFill/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 flipH="1">
            <a:off x="1691640" y="4892040"/>
            <a:ext cx="1188720" cy="45720"/>
          </a:xfrm>
          <a:prstGeom prst="line">
            <a:avLst/>
          </a:prstGeom>
          <a:noFill/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069080" y="4937760"/>
            <a:ext cx="0" cy="274320"/>
          </a:xfrm>
          <a:prstGeom prst="line">
            <a:avLst/>
          </a:prstGeom>
          <a:noFill/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880360" y="4892040"/>
            <a:ext cx="1188720" cy="45720"/>
          </a:xfrm>
          <a:prstGeom prst="line">
            <a:avLst/>
          </a:prstGeom>
          <a:noFill/>
          <a:ln w="15875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0080" y="52120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B7A5E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5212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Continue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52120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83280" y="5212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ESCALATED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5715000"/>
            <a:ext cx="0" cy="274320"/>
          </a:xfrm>
          <a:prstGeom prst="line">
            <a:avLst/>
          </a:prstGeom>
          <a:noFill/>
          <a:ln w="15875">
            <a:solidFill>
              <a:srgbClr val="F9616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926080" y="5980176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41A44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879012" y="60076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 → Notification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97074" y="1560667"/>
            <a:ext cx="6080760" cy="1600200"/>
          </a:xfrm>
          <a:prstGeom prst="roundRect">
            <a:avLst>
              <a:gd name="adj" fmla="val 4571"/>
            </a:avLst>
          </a:prstGeom>
          <a:solidFill>
            <a:srgbClr val="141A44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852160" y="1737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SLA deadline is considered breached.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52160" y="22128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deadline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95360" y="22128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52160" y="2523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deadline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95360" y="252374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52160" y="2834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deadline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95360" y="28346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716347" y="3250960"/>
            <a:ext cx="6080760" cy="2834640"/>
          </a:xfrm>
          <a:prstGeom prst="roundRect">
            <a:avLst>
              <a:gd name="adj" fmla="val 2581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85216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852160" y="40690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852160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63640" y="404164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excluded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5852160" y="457200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85216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63640" y="454456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excluded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5852160" y="50749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85216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63640" y="50474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escalated excluded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5852160" y="55778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852160" y="5577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63640" y="555040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processing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SupportFlow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FEATURE CHANGE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Requirement — Automatic SLA Reassignment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" y="181508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8150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6002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→ ESCALATED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60520" y="1988820"/>
            <a:ext cx="137160" cy="0"/>
          </a:xfrm>
          <a:prstGeom prst="line">
            <a:avLst/>
          </a:prstGeom>
          <a:noFill/>
          <a:ln w="15875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62272" y="181508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62272" y="18150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6002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Auto-reassignment enabled?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09560" y="1988820"/>
            <a:ext cx="137160" cy="0"/>
          </a:xfrm>
          <a:prstGeom prst="line">
            <a:avLst/>
          </a:prstGeom>
          <a:noFill/>
          <a:ln w="15875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11312" y="181508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11312" y="18150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68512" y="16002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eligible Agents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13232" y="27752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13232" y="27752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0432" y="25603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current Agent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60520" y="2948940"/>
            <a:ext cx="137160" cy="0"/>
          </a:xfrm>
          <a:prstGeom prst="line">
            <a:avLst/>
          </a:prstGeom>
          <a:noFill/>
          <a:ln w="15875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297680" y="256032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462272" y="27752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462272" y="27752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19472" y="25603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inactive Agents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09560" y="2948940"/>
            <a:ext cx="137160" cy="0"/>
          </a:xfrm>
          <a:prstGeom prst="line">
            <a:avLst/>
          </a:prstGeom>
          <a:noFill/>
          <a:ln w="15875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046720" y="256032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211312" y="27752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211312" y="27752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68512" y="25603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workload capacity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35204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13232" y="373532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13232" y="37353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70432" y="35204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least-loaded Agent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160520" y="3909060"/>
            <a:ext cx="137160" cy="0"/>
          </a:xfrm>
          <a:prstGeom prst="line">
            <a:avLst/>
          </a:prstGeom>
          <a:noFill/>
          <a:ln w="15875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297680" y="35204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462272" y="373532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462272" y="37353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19472" y="35204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tie-break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909560" y="3909060"/>
            <a:ext cx="137160" cy="0"/>
          </a:xfrm>
          <a:prstGeom prst="line">
            <a:avLst/>
          </a:prstGeom>
          <a:noFill/>
          <a:ln w="15875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8046720" y="35204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211312" y="3735324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211312" y="37353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668512" y="35204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48640" y="45262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E9E9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68680" y="452628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eligible Agent?  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original Agent — escalation still succeeds.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57607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868680" y="57607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Reassignment also creates the appropriate audit and notification behavior.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SupportFlow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Multi-Layer Automated Verification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572768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880360" y="1737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
</a:t>
            </a: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92240" y="1572768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549640" y="1737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E2E Tests
</a:t>
            </a: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4846320" cy="0"/>
          </a:xfrm>
          <a:prstGeom prst="line">
            <a:avLst/>
          </a:prstGeom>
          <a:noFill/>
          <a:ln w="12700">
            <a:solidFill>
              <a:srgbClr val="D6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Authentication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46120" y="3657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RBAC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9502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Tickets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6120" y="39502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SLA boundaries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2428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Escalation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46120" y="42428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Auto-reassignment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53542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46120" y="453542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Notifications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4828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46120" y="4828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WebSocket security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92240" y="3154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92240" y="3520440"/>
            <a:ext cx="4846320" cy="0"/>
          </a:xfrm>
          <a:prstGeom prst="line">
            <a:avLst/>
          </a:prstGeom>
          <a:noFill/>
          <a:ln w="12700">
            <a:solidFill>
              <a:srgbClr val="D6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92240" y="3657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Authentication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915400" y="3657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Role routing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92240" y="39502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Ticket lifecycle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915400" y="39502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Assignment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92240" y="42428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Resolution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915400" y="42428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Internal-note privacy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92240" y="453542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WebSocket notification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915400" y="453542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 configuration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92240" y="4828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Responsive navigation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6400800"/>
            <a:ext cx="1106424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SUITE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the Tests Detect Real Defects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business rule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current_time &gt;= sla_deadline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regression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current_time &gt; sla_deadline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deadline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22951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at deadline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0" y="229514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❌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28072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deadline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0" y="28072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7200" dirty="0"/>
          </a:p>
        </p:txBody>
      </p:sp>
      <p:sp>
        <p:nvSpPr>
          <p:cNvPr id="17" name="Shape 15"/>
          <p:cNvSpPr/>
          <p:nvPr/>
        </p:nvSpPr>
        <p:spPr>
          <a:xfrm>
            <a:off x="4480560" y="3794760"/>
            <a:ext cx="7132320" cy="822960"/>
          </a:xfrm>
          <a:prstGeom prst="roundRect">
            <a:avLst>
              <a:gd name="adj" fmla="val 8889"/>
            </a:avLst>
          </a:prstGeom>
          <a:solidFill>
            <a:srgbClr val="141A44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0" y="37947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one-character change broke the exact-deadline SLA requirement, and the existing regression test detected it.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dash"/>
          </a:ln>
        </p:spPr>
        <p:txBody>
          <a:bodyPr/>
          <a:lstStyle/>
          <a:p>
            <a:r>
              <a:rPr lang="en-GB" dirty="0"/>
              <a:t>        </a:t>
            </a:r>
            <a:r>
              <a:rPr lang="en-US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SCREENSHOT</a:t>
            </a:r>
            <a:endParaRPr lang="en-US" dirty="0"/>
          </a:p>
          <a:p>
            <a:r>
              <a:rPr lang="en-IN" dirty="0">
                <a:hlinkClick r:id="rId3"/>
              </a:rPr>
              <a:t>https://drive.google.com/file/d/17fMqilBsZb51OyzkgIVGdRBUDd0SNtTV/view?usp=sharing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4" action="ppaction://hlinkfile"/>
              </a:rPr>
              <a:t>https://drive.google.com/file/d/1CA5huRRRG4UqdbE7YIw-ATt1qCTEyPY0/view?usp=sharing</a:t>
            </a:r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914400" y="4846320"/>
            <a:ext cx="10332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SupportFlow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Engineering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Baseline — 82 backend tests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2011680"/>
            <a:ext cx="0" cy="91440"/>
          </a:xfrm>
          <a:prstGeom prst="line">
            <a:avLst/>
          </a:prstGeom>
          <a:noFill/>
          <a:ln w="15875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Requirement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560320"/>
            <a:ext cx="0" cy="91440"/>
          </a:xfrm>
          <a:prstGeom prst="line">
            <a:avLst/>
          </a:prstGeom>
          <a:noFill/>
          <a:ln w="15875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280" y="26517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Impact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3108960"/>
            <a:ext cx="0" cy="91440"/>
          </a:xfrm>
          <a:prstGeom prst="line">
            <a:avLst/>
          </a:prstGeom>
          <a:noFill/>
          <a:ln w="15875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22960" y="320040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657600"/>
            <a:ext cx="0" cy="91440"/>
          </a:xfrm>
          <a:prstGeom prst="line">
            <a:avLst/>
          </a:prstGeom>
          <a:noFill/>
          <a:ln w="15875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960" y="374904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97280" y="3749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Tests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4206240"/>
            <a:ext cx="0" cy="91440"/>
          </a:xfrm>
          <a:prstGeom prst="line">
            <a:avLst/>
          </a:prstGeom>
          <a:noFill/>
          <a:ln w="15875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2960" y="429768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97280" y="4297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/ Validation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4754880"/>
            <a:ext cx="0" cy="91440"/>
          </a:xfrm>
          <a:prstGeom prst="line">
            <a:avLst/>
          </a:prstGeom>
          <a:noFill/>
          <a:ln w="15875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22960" y="484632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97280" y="48463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Fixes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5303520"/>
            <a:ext cx="0" cy="91440"/>
          </a:xfrm>
          <a:prstGeom prst="line">
            <a:avLst/>
          </a:prstGeom>
          <a:noFill/>
          <a:ln w="15875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22960" y="539496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97280" y="53949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Regression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5852160"/>
            <a:ext cx="0" cy="91440"/>
          </a:xfrm>
          <a:prstGeom prst="line">
            <a:avLst/>
          </a:prstGeom>
          <a:noFill/>
          <a:ln w="15875">
            <a:solidFill>
              <a:srgbClr val="5A6B8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22960" y="594360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97280" y="59436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— 98 tests, 24 E2E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778240" y="1554480"/>
            <a:ext cx="2834640" cy="4846320"/>
          </a:xfrm>
          <a:prstGeom prst="roundRect">
            <a:avLst>
              <a:gd name="adj" fmla="val 2581"/>
            </a:avLst>
          </a:prstGeom>
          <a:solidFill>
            <a:srgbClr val="1E2761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00684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006840" y="22860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accelerated implementation and analysis; automated tests determined correctness.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06840" y="4114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AI-assisted engineering — not “AI wrote my project.”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SupportFlow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 /  Pull Request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flipH="1">
            <a:off x="2743200" y="2103120"/>
            <a:ext cx="822960" cy="22860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0" y="2423160"/>
            <a:ext cx="0" cy="1828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595360" y="2103120"/>
            <a:ext cx="853440" cy="27432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418320" y="2423160"/>
            <a:ext cx="0" cy="1828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280160" y="246888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141A44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50876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50876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pytest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246888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141A44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8388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8388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73679" y="3886200"/>
            <a:ext cx="3261361" cy="27432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 flipH="1">
            <a:off x="6035040" y="3886200"/>
            <a:ext cx="3383280" cy="27432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035040" y="4206240"/>
            <a:ext cx="0" cy="18288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434840" y="429768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141A44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434840" y="4297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— 24 tests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4846320"/>
            <a:ext cx="0" cy="32004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434840" y="521208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434840" y="5212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Artifact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8521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application is verified on a clean GitHub-hosted environment, not only on the development machine.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52160" y="5760720"/>
            <a:ext cx="5760720" cy="73152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17920" y="57607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SCREENSHOT</a:t>
            </a:r>
            <a:b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file"/>
              </a:rPr>
              <a:t>https://drive.google.com/file/d/1vB3n8_dTr4qsWZReqv5HKuNJ8VO3IVO8/view?usp=sharing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SupportFlow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Engineering Results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76479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 / 98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547872" y="176479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24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47872" y="2468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E2E Tests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2784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9944" y="176479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9944" y="2468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Roles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34856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272016" y="176479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272016" y="2468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Notifications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5800" y="336499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" y="4069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Escalation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10712" y="32004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547872" y="336499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47872" y="4069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Stage-3 Change Loop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72784" y="32004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41A44"/>
          </a:solidFill>
          <a:ln w="12700">
            <a:solidFill>
              <a:srgbClr val="3A44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9944" y="336499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9944" y="4069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Verified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41A44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68680" y="525780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SupportFlow demonstrates how AI-assisted development can be combined with business-rule-focused automated testing, deliberate regression validation, and CI to safely evolve a full-stack application.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SupportFlow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823</Words>
  <Application>Microsoft Office PowerPoint</Application>
  <PresentationFormat>Widescreen</PresentationFormat>
  <Paragraphs>257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KALAVALA SHIVA HARI KOWSHIK</cp:lastModifiedBy>
  <cp:revision>3</cp:revision>
  <dcterms:created xsi:type="dcterms:W3CDTF">2026-08-17T11:56:27Z</dcterms:created>
  <dcterms:modified xsi:type="dcterms:W3CDTF">2026-08-17T12:11:12Z</dcterms:modified>
</cp:coreProperties>
</file>